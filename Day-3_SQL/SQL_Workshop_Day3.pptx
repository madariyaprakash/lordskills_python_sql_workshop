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0" r:id="rId23"/>
    <p:sldId id="276" r:id="rId24"/>
    <p:sldId id="277" r:id="rId25"/>
    <p:sldId id="278" r:id="rId26"/>
    <p:sldId id="279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280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42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47042-8200-F5A4-78C9-029F4878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EDE70-9DBA-2B9C-3091-CACDAAD1B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0B39B-ADD6-452D-E032-19206F408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352F8-4A79-2989-EE0F-58E4C4643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22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E372-E3A2-1EF9-50DE-CFDC3553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7CD79-3C6E-8E62-C3CA-5F6307DFD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7B9DDF-4FB9-428C-8C3F-790334FA5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81901-B385-D5CB-7578-B75F6C1B8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405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with SQL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SQL Fundamentals &amp; Integration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61872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Basics &amp; Database Concepts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764792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916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Retrieval with SELECT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267712"/>
            <a:ext cx="228600" cy="228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1945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 Data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77063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6974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&amp; Relationships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27355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Aggregations &amp; Grouping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77647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703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Python-SQL Integration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427939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206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Hands-on Project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SQL?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Query Language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language for managing relational databases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CREATE, READ, UPDATE, and DELETE data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2560320"/>
            <a:ext cx="768096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2743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SQL Matters for Developers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3291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most web applications and business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skill for backend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seamlessly with Python, Java, JavaScript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for data analysis and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Fundamentals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630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data in rows and columns, like spreadsheets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74720" y="118872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630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0" y="26517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identifier for each row in a table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188720"/>
            <a:ext cx="24688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630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00800" y="26517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tables together through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5F612-7906-C9F9-EE7A-9ABC6766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5CD6B9-7256-C0C0-757A-5A0A018EC74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</a:t>
            </a:r>
            <a:endParaRPr lang="en-US" sz="3600" dirty="0"/>
          </a:p>
        </p:txBody>
      </p:sp>
      <p:pic>
        <p:nvPicPr>
          <p:cNvPr id="1026" name="Picture 2" descr="ER Diagram (MS SQL Server) | MSSQL Tutorial">
            <a:extLst>
              <a:ext uri="{FF2B5EF4-FFF2-40B4-BE49-F238E27FC236}">
                <a16:creationId xmlns:a16="http://schemas.microsoft.com/office/drawing/2014/main" id="{4CFDE96E-E665-B5D4-7F19-4AB4A6000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471" y="791995"/>
            <a:ext cx="4784113" cy="404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AEC74AB2-AE5F-72E8-2113-A370AE9E7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37721"/>
            <a:ext cx="27052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Entity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real-world object or concept stored as data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Attribute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Properties that describe an entity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entities are connected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05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SQL Data Types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3200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Type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numbers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 -100, 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Variable-length 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'Hello', 'Student'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values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'2026-02-25'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DECIMAL(p,s)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Precise decimal numbers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99.99, 1234.56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BOOLEAN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True/False values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TRUE, FALSE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text fields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descriptions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Tables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7680960" cy="3017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91640"/>
            <a:ext cx="7315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students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student_id INTEGER PRIMARY KEY,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first_name VARCHAR(50)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last_name VARCHAR(50) NOT NULL,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VARCHAR(100) UNIQUE,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enrollment_date DATE,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gpa DECIMAL(3,2)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Inserting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students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'John', 'Doe',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'john@example.com',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'2023-09-01', 3.75);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1463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82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2344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students VALUES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(2, 'Jane', 'Smith', ...),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(3, 'Mike', 'Johnson', ...);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004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Best Practice: Always specify column names for clarity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- Retrieving Data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used SQL command!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Columns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240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Columns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246120"/>
            <a:ext cx="768096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3375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first_name, email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Alias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4343400"/>
            <a:ext cx="768096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434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first_name AS 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gpa AS grade_point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students;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with WHERE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84048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(equal)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 or &lt;&gt; (not equal)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, &lt; , &gt;= , &lt;=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... AND ...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(value1, value2, ...)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(pattern matching)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NULL / IS NOT NULL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47472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822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GPA greater than 3.5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&gt; 3.5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Names starting with 'J'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LIKE 'J%'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Enrolled in 2023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YEAR(enrollment_date)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2023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Conditions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AND: Both conditions must be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&gt; 3.5 AND enrollment_date &gt; '2023-01-01';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OR: At least one condition must be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first_name = 'John' OR last_name = 'Smith';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NOT: Negates a condition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gpa &lt; 2.0;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Results - ORDER BY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645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Ascending Order (A→Z, 0→9)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last_name ASC;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474720" cy="1645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Descending Order (Z→A, 9→0)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3716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gpa DESC;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Columns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gpa DESC, last_name ASC;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Results - LIMIT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the number of rows returned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84048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Students by GPA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gpa DESC LIMIT 5;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645920"/>
            <a:ext cx="3474720" cy="1097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First 10, Get Next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783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 OFFSET 10;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747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LIMIT for pagination in web applications!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Functions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calculations on multiple rows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rows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COUNT(*)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of values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SUM(gpa)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AVG(gpa)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MIN(gpa)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MAX()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Maximum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MAX(gpa)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41148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total_students, AVG(gpa) as avg_gpa FROM students;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Data - GROUP BY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rows with same values and apply aggregate functions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Count students by enrollment year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YEAR(enrollment_date) as year,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student_count,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AVG(gpa) as average_gpa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YEAR(enrollment_date);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041648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HAVING filters groups (like WHERE filters rows)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Relationships - JOINs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188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data from multiple tables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2286000" cy="914400"/>
          </a:xfrm>
          <a:prstGeom prst="rect">
            <a:avLst/>
          </a:prstGeom>
          <a:solidFill>
            <a:srgbClr val="028090"/>
          </a:solidFill>
          <a:ln w="25400">
            <a:solidFill>
              <a:srgbClr val="014F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1828800"/>
            <a:ext cx="2286000" cy="914400"/>
          </a:xfrm>
          <a:prstGeom prst="rect">
            <a:avLst/>
          </a:prstGeom>
          <a:solidFill>
            <a:srgbClr val="00A896"/>
          </a:solidFill>
          <a:ln w="25400">
            <a:solidFill>
              <a:srgbClr val="014F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828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0" y="2286000"/>
            <a:ext cx="18288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93192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3832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only matching records from both tables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all from left table + matching from right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Get student names with their enrolled courses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s.first_name, s.last_name, c.course_name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students 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enrollments e ON s.student_id = e.student_id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courses c ON e.course_id = c.course_id;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Table aliases (s, e, c) make queries shorter and more readable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Updating Data - UPDATE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Single Student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gpa = 3.85, email = 'newemail@example.com'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student_id = 1;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1280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Multiple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7406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gpa = gpa + 0.1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&gt;= 3.5;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ALWAYS use WHERE clause or you'll update ALL rows!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Data - DELETE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Specific Row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student_id = 5;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Multiple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gpa &lt; 2.0;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DELETE without WHERE removes ALL rows!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DELETE is permanent - no undo!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SQL Integration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8872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1168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Python to Databases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19933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017520" y="1993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Built-in, perfect for learning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943600" y="199339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database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26334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mysql-connector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017520" y="26334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MySQL databases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0" y="26334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32735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psycopg2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17520" y="32735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PostgreSQL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0" y="327355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39136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017520" y="39136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framework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0" y="39136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projects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MySQL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15418"/>
            <a:ext cx="5178626" cy="1882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 err="1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mysql.connector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to database</a:t>
            </a:r>
            <a:endParaRPr lang="en-US" sz="900" dirty="0"/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conn = </a:t>
            </a:r>
            <a:r>
              <a:rPr lang="en-IN" sz="9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mysql.connector.connect</a:t>
            </a:r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    host="localhost",</a:t>
            </a:r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    user="root",</a:t>
            </a:r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    password="Prakash@000",</a:t>
            </a:r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    database="</a:t>
            </a:r>
            <a:r>
              <a:rPr lang="en-IN" sz="9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user_db</a:t>
            </a:r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"</a:t>
            </a:r>
          </a:p>
          <a:p>
            <a:r>
              <a:rPr lang="en-IN" sz="9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   )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conn.cursor()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Execute query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cursor.execute('SELECT * FROM students WHERE gpa &gt; ?', (3.5,))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Fetch results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cursor.fetchall()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results: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print(row)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Close connection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conn.close()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EB069-4981-9FA5-6F68-BDA052C32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230874-641D-CA32-2578-316319EBF9E1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SQLite Example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64EEA6-25CC-AB4F-6318-95D3E490BE4B}"/>
              </a:ext>
            </a:extLst>
          </p:cNvPr>
          <p:cNvSpPr/>
          <p:nvPr/>
        </p:nvSpPr>
        <p:spPr>
          <a:xfrm>
            <a:off x="731520" y="1097280"/>
            <a:ext cx="768096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5FE612-8D10-F571-C8FA-AA38BC97C784}"/>
              </a:ext>
            </a:extLst>
          </p:cNvPr>
          <p:cNvSpPr/>
          <p:nvPr/>
        </p:nvSpPr>
        <p:spPr>
          <a:xfrm>
            <a:off x="914400" y="128016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to database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sqlite3.connect('students.db')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= conn.cursor()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Execute query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cursor.execute('SELECT * FROM students WHERE gpa &gt; ?', (3.5,))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Fetch results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cursor.fetchall()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row in results: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print(row)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Close connection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conn.close()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8451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Best Practices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Performance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828800"/>
            <a:ext cx="76809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901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Parameterized Queries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SQL injection attacks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40480" y="1901952"/>
            <a:ext cx="438912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3931920" y="1901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cursor.execute('SELECT * FROM users WHERE id = ?', (user_id,))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606040"/>
            <a:ext cx="76809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6791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Important Columns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up queries on large tables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2679192"/>
            <a:ext cx="438912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2679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idx_email ON students(email);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3383280"/>
            <a:ext cx="76809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456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Transactions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data consistency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3456432"/>
            <a:ext cx="438912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6"/>
          <p:cNvSpPr/>
          <p:nvPr/>
        </p:nvSpPr>
        <p:spPr>
          <a:xfrm>
            <a:off x="3931920" y="34564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 ... COMMIT; or ROLLBACK;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233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SELECT *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144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select columns you need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40480" y="4233672"/>
            <a:ext cx="438912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0" y="42336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email FROM students;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Project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Student Management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Database Schema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Courses, Enrollments tables with relationships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Sample Data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at least 10 students and 5 courses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Python Interface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to add students, enroll in courses, view grades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students by GPA, course enrollment stats, etc.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3533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SQLZoo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89120" y="135331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SQL tutorials - sqlzoo.net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993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Tutorial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documentation - sqlite.org/docs.html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6334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W3Schools 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63347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reference - w3schools.com/sql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2735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SQLBolt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2735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SQL with exercises - sqlbolt.com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9136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DB-API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391363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programming in Python - python.org/dev/peps/pep-0249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1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something amazing with Python + SQL!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Coding!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1413</Words>
  <Application>Microsoft Office PowerPoint</Application>
  <PresentationFormat>On-screen Show (16:9)</PresentationFormat>
  <Paragraphs>324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SQL - Day 3</dc:title>
  <dc:subject>PptxGenJS Presentation</dc:subject>
  <dc:creator>SQL Workshop</dc:creator>
  <cp:lastModifiedBy>Prakash Madariya</cp:lastModifiedBy>
  <cp:revision>2</cp:revision>
  <dcterms:created xsi:type="dcterms:W3CDTF">2026-02-25T15:47:40Z</dcterms:created>
  <dcterms:modified xsi:type="dcterms:W3CDTF">2026-02-25T20:18:40Z</dcterms:modified>
</cp:coreProperties>
</file>