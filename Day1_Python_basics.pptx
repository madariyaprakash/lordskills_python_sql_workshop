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5" r:id="rId4"/>
    <p:sldId id="258" r:id="rId5"/>
    <p:sldId id="274" r:id="rId6"/>
    <p:sldId id="259" r:id="rId7"/>
    <p:sldId id="260" r:id="rId8"/>
    <p:sldId id="261" r:id="rId9"/>
    <p:sldId id="276" r:id="rId10"/>
    <p:sldId id="277" r:id="rId11"/>
    <p:sldId id="278" r:id="rId12"/>
    <p:sldId id="263" r:id="rId13"/>
    <p:sldId id="265" r:id="rId14"/>
    <p:sldId id="267" r:id="rId15"/>
    <p:sldId id="269" r:id="rId16"/>
    <p:sldId id="270" r:id="rId17"/>
    <p:sldId id="268" r:id="rId18"/>
    <p:sldId id="271" r:id="rId19"/>
    <p:sldId id="272" r:id="rId20"/>
    <p:sldId id="27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113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0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7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5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8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3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15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5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93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70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7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3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4-Day Hands-on Workshop</a:t>
            </a:r>
          </a:p>
          <a:p>
            <a:r>
              <a:rPr dirty="0"/>
              <a:t>Python &amp;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endParaRPr lang="en-IN" dirty="0"/>
          </a:p>
          <a:p>
            <a:pPr marL="0" indent="0">
              <a:buNone/>
            </a:pPr>
            <a:r>
              <a:rPr lang="en-IN" b="1" u="sng" dirty="0"/>
              <a:t>About Me</a:t>
            </a:r>
          </a:p>
          <a:p>
            <a:pPr marL="0" indent="0">
              <a:buNone/>
            </a:pPr>
            <a:r>
              <a:rPr lang="en-IN" b="1" dirty="0"/>
              <a:t>Prakash Madariya</a:t>
            </a:r>
          </a:p>
          <a:p>
            <a:pPr marL="0" indent="0">
              <a:buNone/>
            </a:pPr>
            <a:r>
              <a:rPr lang="en-IN" b="1" dirty="0"/>
              <a:t>BE</a:t>
            </a:r>
            <a:r>
              <a:rPr lang="en-IN" dirty="0"/>
              <a:t> in </a:t>
            </a:r>
            <a:r>
              <a:rPr lang="en-IN" b="1" dirty="0"/>
              <a:t>Computer Science Eng.</a:t>
            </a:r>
          </a:p>
          <a:p>
            <a:pPr marL="0" indent="0">
              <a:buNone/>
            </a:pPr>
            <a:r>
              <a:rPr lang="en-IN" dirty="0"/>
              <a:t>Around </a:t>
            </a:r>
            <a:r>
              <a:rPr lang="en-IN" b="1" dirty="0"/>
              <a:t>9 Years </a:t>
            </a:r>
            <a:r>
              <a:rPr lang="en-IN" dirty="0"/>
              <a:t>of IT experience as </a:t>
            </a:r>
            <a:r>
              <a:rPr lang="en-IN" b="1" dirty="0"/>
              <a:t>Full Stack Developer</a:t>
            </a:r>
          </a:p>
          <a:p>
            <a:pPr marL="0" indent="0">
              <a:buNone/>
            </a:pPr>
            <a:r>
              <a:rPr lang="en-IN" dirty="0"/>
              <a:t>Currently working at </a:t>
            </a:r>
            <a:r>
              <a:rPr lang="en-IN" b="1" dirty="0"/>
              <a:t>Virtusa </a:t>
            </a:r>
            <a:r>
              <a:rPr lang="en-IN" dirty="0"/>
              <a:t>as</a:t>
            </a:r>
            <a:r>
              <a:rPr lang="en-IN" b="1" dirty="0"/>
              <a:t> Tech Lead Engineer</a:t>
            </a:r>
          </a:p>
          <a:p>
            <a:pPr marL="0" indent="0">
              <a:buNone/>
            </a:pPr>
            <a:r>
              <a:rPr lang="en-IN" b="1" dirty="0"/>
              <a:t>Mentored </a:t>
            </a:r>
            <a:r>
              <a:rPr lang="en-IN" dirty="0"/>
              <a:t>over</a:t>
            </a:r>
            <a:r>
              <a:rPr lang="en-IN" b="1" dirty="0"/>
              <a:t> 1000+ students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Workshop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Build strong Python fundamentals</a:t>
            </a:r>
            <a:endParaRPr lang="en-IN" dirty="0"/>
          </a:p>
          <a:p>
            <a:r>
              <a:rPr dirty="0"/>
              <a:t>Improve logical thinking</a:t>
            </a:r>
            <a:r>
              <a:rPr lang="en-IN" dirty="0"/>
              <a:t> and problem solving skills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Because </a:t>
            </a:r>
          </a:p>
          <a:p>
            <a:pPr marL="0" indent="0">
              <a:buNone/>
            </a:pPr>
            <a:r>
              <a:rPr lang="en-US" dirty="0"/>
              <a:t>Companies don’t hire based on theory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They test problem solving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They test logic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They test debugging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They test database understanding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BF1B0-7919-9427-67D0-52B8D493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6CAD-2157-0E05-5F02-DDB7172C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You Will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A3CFB-7361-2F60-3465-ABB111167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Day 4: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Connect Python with database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Build mini backend system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Write optimized queries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Think like IT professional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96893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Python Is Used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Backend development</a:t>
            </a:r>
            <a:endParaRPr lang="en-IN" dirty="0"/>
          </a:p>
          <a:p>
            <a:pPr lvl="1"/>
            <a:r>
              <a:rPr lang="en-US" sz="1400" b="1" dirty="0"/>
              <a:t>Roles:</a:t>
            </a:r>
            <a:r>
              <a:rPr lang="en-US" sz="1400" dirty="0"/>
              <a:t> Python Developer, Backend Engineer, API Developer, Django/Flask Developer</a:t>
            </a:r>
          </a:p>
          <a:p>
            <a:pPr marL="274320" lvl="1" indent="0">
              <a:buNone/>
            </a:pPr>
            <a:endParaRPr lang="en-IN" sz="1400" dirty="0"/>
          </a:p>
          <a:p>
            <a:r>
              <a:rPr dirty="0"/>
              <a:t>Automation &amp; scripting</a:t>
            </a:r>
            <a:endParaRPr lang="en-IN" dirty="0"/>
          </a:p>
          <a:p>
            <a:pPr lvl="1"/>
            <a:r>
              <a:rPr lang="en-US" sz="1400" b="1" dirty="0"/>
              <a:t>Roles: </a:t>
            </a:r>
            <a:r>
              <a:rPr lang="en-US" sz="1400" dirty="0"/>
              <a:t>Automation Engineer, Python Scripting Engineer, Automation Tester, Software Development Engineer in Test (SDET)</a:t>
            </a:r>
          </a:p>
          <a:p>
            <a:pPr marL="274320" lvl="1" indent="0">
              <a:buNone/>
            </a:pPr>
            <a:endParaRPr lang="en-IN" sz="1400" dirty="0"/>
          </a:p>
          <a:p>
            <a:r>
              <a:rPr dirty="0"/>
              <a:t>Data engineering &amp; AI</a:t>
            </a:r>
            <a:endParaRPr lang="en-IN" dirty="0"/>
          </a:p>
          <a:p>
            <a:pPr lvl="1"/>
            <a:r>
              <a:rPr lang="en-US" sz="1400" b="1" dirty="0"/>
              <a:t>Roles:</a:t>
            </a:r>
            <a:r>
              <a:rPr lang="en-US" sz="1400" dirty="0"/>
              <a:t> Data Engineer, Data Scientist, Machine Learning Engineer, Data Analyst</a:t>
            </a:r>
          </a:p>
          <a:p>
            <a:pPr marL="274320" lvl="1" indent="0">
              <a:buNone/>
            </a:pPr>
            <a:endParaRPr lang="en-IN" sz="1400" dirty="0"/>
          </a:p>
          <a:p>
            <a:r>
              <a:rPr dirty="0"/>
              <a:t>DevOps &amp; Cloud integration</a:t>
            </a:r>
            <a:endParaRPr lang="en-IN" dirty="0"/>
          </a:p>
          <a:p>
            <a:pPr lvl="1"/>
            <a:r>
              <a:rPr lang="en-GB" sz="1400" b="1" dirty="0"/>
              <a:t>Roles:</a:t>
            </a:r>
            <a:r>
              <a:rPr lang="en-GB" sz="1400" dirty="0"/>
              <a:t> </a:t>
            </a:r>
            <a:r>
              <a:rPr lang="en-US" sz="1400" dirty="0"/>
              <a:t>DevOps Engineer, Cloud Engineer, Site Reliability Engineer (SRE), Infrastructure as Code (</a:t>
            </a:r>
            <a:r>
              <a:rPr lang="en-US" sz="1400" dirty="0" err="1"/>
              <a:t>IaC</a:t>
            </a:r>
            <a:r>
              <a:rPr lang="en-US" sz="1400" dirty="0"/>
              <a:t>) Engineer</a:t>
            </a:r>
            <a:endParaRPr sz="14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7B34-7503-21D7-FF89-D89824EB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F302-9D4A-064A-8D1D-56C0FF55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551427"/>
            <a:ext cx="7772400" cy="1609344"/>
          </a:xfrm>
        </p:spPr>
        <p:txBody>
          <a:bodyPr/>
          <a:lstStyle/>
          <a:p>
            <a:r>
              <a:rPr lang="en-IN" dirty="0"/>
              <a:t>Day 1 – Python Fundamentals and Logic building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83391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Python Executes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3604364" cy="405079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Lexer convert the source code in tokens called tokenizer.</a:t>
            </a:r>
          </a:p>
          <a:p>
            <a:pPr marL="274320" lvl="1" indent="0">
              <a:buNone/>
            </a:pPr>
            <a:r>
              <a:rPr lang="en-IN" sz="900" dirty="0"/>
              <a:t>KEYWORD(if)</a:t>
            </a:r>
            <a:br>
              <a:rPr lang="en-IN" sz="900" dirty="0"/>
            </a:br>
            <a:r>
              <a:rPr lang="en-IN" sz="900" dirty="0"/>
              <a:t>NAME(x)</a:t>
            </a:r>
            <a:br>
              <a:rPr lang="en-IN" sz="900" dirty="0"/>
            </a:br>
            <a:r>
              <a:rPr lang="en-IN" sz="900" dirty="0"/>
              <a:t>OP(&gt;)</a:t>
            </a:r>
            <a:br>
              <a:rPr lang="en-IN" sz="900" dirty="0"/>
            </a:br>
            <a:r>
              <a:rPr lang="en-IN" sz="900" dirty="0"/>
              <a:t>NUMBER(10)</a:t>
            </a:r>
            <a:br>
              <a:rPr lang="en-IN" sz="900" dirty="0"/>
            </a:br>
            <a:r>
              <a:rPr lang="en-IN" sz="900" dirty="0"/>
              <a:t>OP(:)</a:t>
            </a:r>
            <a:br>
              <a:rPr lang="en-IN" sz="900" dirty="0"/>
            </a:br>
            <a:r>
              <a:rPr lang="en-IN" sz="900" dirty="0"/>
              <a:t>NEWLINE</a:t>
            </a:r>
            <a:br>
              <a:rPr lang="en-IN" sz="900" dirty="0"/>
            </a:br>
            <a:r>
              <a:rPr lang="en-IN" sz="900" dirty="0"/>
              <a:t>INDENT</a:t>
            </a:r>
            <a:br>
              <a:rPr lang="en-IN" sz="900" dirty="0"/>
            </a:br>
            <a:r>
              <a:rPr lang="en-IN" sz="900" dirty="0"/>
              <a:t>NAME(print)</a:t>
            </a:r>
            <a:br>
              <a:rPr lang="en-IN" sz="900" dirty="0"/>
            </a:br>
            <a:r>
              <a:rPr lang="en-IN" sz="900" dirty="0"/>
              <a:t>LPAREN</a:t>
            </a:r>
            <a:br>
              <a:rPr lang="en-IN" sz="900" dirty="0"/>
            </a:br>
            <a:r>
              <a:rPr lang="en-IN" sz="900" dirty="0"/>
              <a:t>STRING("Hi")</a:t>
            </a:r>
            <a:br>
              <a:rPr lang="en-IN" sz="900" dirty="0"/>
            </a:br>
            <a:r>
              <a:rPr lang="en-IN" sz="900" dirty="0"/>
              <a:t>RPAREN</a:t>
            </a:r>
            <a:br>
              <a:rPr lang="en-IN" sz="900" dirty="0"/>
            </a:br>
            <a:r>
              <a:rPr lang="en-IN" sz="900" dirty="0"/>
              <a:t>NEWLINE</a:t>
            </a:r>
            <a:br>
              <a:rPr lang="en-IN" sz="900" dirty="0"/>
            </a:br>
            <a:r>
              <a:rPr lang="en-IN" sz="900" dirty="0"/>
              <a:t>DEDENT</a:t>
            </a:r>
          </a:p>
          <a:p>
            <a:r>
              <a:rPr lang="en-US" dirty="0"/>
              <a:t>Parser checks whether tokens follow grammar rules.</a:t>
            </a:r>
          </a:p>
          <a:p>
            <a:pPr marL="274320" lvl="1" indent="0">
              <a:buNone/>
            </a:pPr>
            <a:r>
              <a:rPr lang="en-IN" sz="900" dirty="0"/>
              <a:t>If tokens don’t match grammar → parser fails → </a:t>
            </a:r>
            <a:r>
              <a:rPr lang="en-IN" sz="900" dirty="0" err="1"/>
              <a:t>SyntaxError</a:t>
            </a:r>
            <a:r>
              <a:rPr lang="en-IN" sz="900" dirty="0"/>
              <a:t>.</a:t>
            </a:r>
          </a:p>
          <a:p>
            <a:pPr marL="274320" lvl="1" indent="0">
              <a:buNone/>
            </a:pPr>
            <a:r>
              <a:rPr lang="en-IN" sz="900" dirty="0"/>
              <a:t>Colon missing → Parser cannot match grammar → </a:t>
            </a:r>
            <a:r>
              <a:rPr lang="en-IN" sz="900" dirty="0" err="1"/>
              <a:t>SyntaxError</a:t>
            </a:r>
            <a:r>
              <a:rPr lang="en-IN" sz="900" dirty="0"/>
              <a:t>.</a:t>
            </a:r>
            <a:endParaRPr lang="en-US" sz="900" dirty="0"/>
          </a:p>
          <a:p>
            <a:r>
              <a:rPr lang="en-US" dirty="0"/>
              <a:t>The interpreter runs the program instruction by instruction and stops if a runtime error happens.</a:t>
            </a:r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06FC57-D28B-9CCA-06DE-1840122E05D1}"/>
              </a:ext>
            </a:extLst>
          </p:cNvPr>
          <p:cNvGrpSpPr/>
          <p:nvPr/>
        </p:nvGrpSpPr>
        <p:grpSpPr>
          <a:xfrm>
            <a:off x="4481294" y="2581365"/>
            <a:ext cx="3976906" cy="2911298"/>
            <a:chOff x="4481294" y="2581365"/>
            <a:chExt cx="3680346" cy="251813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F49EFE6-BCA5-1245-7F09-E3583AC9941F}"/>
                </a:ext>
              </a:extLst>
            </p:cNvPr>
            <p:cNvSpPr/>
            <p:nvPr/>
          </p:nvSpPr>
          <p:spPr>
            <a:xfrm>
              <a:off x="4481294" y="2581365"/>
              <a:ext cx="968512" cy="581107"/>
            </a:xfrm>
            <a:custGeom>
              <a:avLst/>
              <a:gdLst>
                <a:gd name="csX0" fmla="*/ 0 w 968512"/>
                <a:gd name="csY0" fmla="*/ 58111 h 581107"/>
                <a:gd name="csX1" fmla="*/ 58111 w 968512"/>
                <a:gd name="csY1" fmla="*/ 0 h 581107"/>
                <a:gd name="csX2" fmla="*/ 910401 w 968512"/>
                <a:gd name="csY2" fmla="*/ 0 h 581107"/>
                <a:gd name="csX3" fmla="*/ 968512 w 968512"/>
                <a:gd name="csY3" fmla="*/ 58111 h 581107"/>
                <a:gd name="csX4" fmla="*/ 968512 w 968512"/>
                <a:gd name="csY4" fmla="*/ 522996 h 581107"/>
                <a:gd name="csX5" fmla="*/ 910401 w 968512"/>
                <a:gd name="csY5" fmla="*/ 581107 h 581107"/>
                <a:gd name="csX6" fmla="*/ 58111 w 968512"/>
                <a:gd name="csY6" fmla="*/ 581107 h 581107"/>
                <a:gd name="csX7" fmla="*/ 0 w 968512"/>
                <a:gd name="csY7" fmla="*/ 522996 h 581107"/>
                <a:gd name="csX8" fmla="*/ 0 w 968512"/>
                <a:gd name="csY8" fmla="*/ 58111 h 581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68512" h="581107">
                  <a:moveTo>
                    <a:pt x="0" y="58111"/>
                  </a:moveTo>
                  <a:cubicBezTo>
                    <a:pt x="0" y="26017"/>
                    <a:pt x="26017" y="0"/>
                    <a:pt x="58111" y="0"/>
                  </a:cubicBezTo>
                  <a:lnTo>
                    <a:pt x="910401" y="0"/>
                  </a:lnTo>
                  <a:cubicBezTo>
                    <a:pt x="942495" y="0"/>
                    <a:pt x="968512" y="26017"/>
                    <a:pt x="968512" y="58111"/>
                  </a:cubicBezTo>
                  <a:lnTo>
                    <a:pt x="968512" y="522996"/>
                  </a:lnTo>
                  <a:cubicBezTo>
                    <a:pt x="968512" y="555090"/>
                    <a:pt x="942495" y="581107"/>
                    <a:pt x="910401" y="581107"/>
                  </a:cubicBezTo>
                  <a:lnTo>
                    <a:pt x="58111" y="581107"/>
                  </a:lnTo>
                  <a:cubicBezTo>
                    <a:pt x="26017" y="581107"/>
                    <a:pt x="0" y="555090"/>
                    <a:pt x="0" y="522996"/>
                  </a:cubicBezTo>
                  <a:lnTo>
                    <a:pt x="0" y="581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1310" tIns="51310" rIns="51310" bIns="5131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kern="1200" dirty="0"/>
                <a:t>Source Code 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5D4196-5D30-7354-4C8C-8E3A9B6B52A3}"/>
                </a:ext>
              </a:extLst>
            </p:cNvPr>
            <p:cNvSpPr/>
            <p:nvPr/>
          </p:nvSpPr>
          <p:spPr>
            <a:xfrm>
              <a:off x="5535035" y="2751823"/>
              <a:ext cx="205324" cy="240191"/>
            </a:xfrm>
            <a:custGeom>
              <a:avLst/>
              <a:gdLst>
                <a:gd name="csX0" fmla="*/ 0 w 205324"/>
                <a:gd name="csY0" fmla="*/ 48038 h 240191"/>
                <a:gd name="csX1" fmla="*/ 102662 w 205324"/>
                <a:gd name="csY1" fmla="*/ 48038 h 240191"/>
                <a:gd name="csX2" fmla="*/ 102662 w 205324"/>
                <a:gd name="csY2" fmla="*/ 0 h 240191"/>
                <a:gd name="csX3" fmla="*/ 205324 w 205324"/>
                <a:gd name="csY3" fmla="*/ 120096 h 240191"/>
                <a:gd name="csX4" fmla="*/ 102662 w 205324"/>
                <a:gd name="csY4" fmla="*/ 240191 h 240191"/>
                <a:gd name="csX5" fmla="*/ 102662 w 205324"/>
                <a:gd name="csY5" fmla="*/ 192153 h 240191"/>
                <a:gd name="csX6" fmla="*/ 0 w 205324"/>
                <a:gd name="csY6" fmla="*/ 192153 h 240191"/>
                <a:gd name="csX7" fmla="*/ 0 w 205324"/>
                <a:gd name="csY7" fmla="*/ 48038 h 240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5324" h="240191">
                  <a:moveTo>
                    <a:pt x="0" y="48038"/>
                  </a:moveTo>
                  <a:lnTo>
                    <a:pt x="102662" y="48038"/>
                  </a:lnTo>
                  <a:lnTo>
                    <a:pt x="102662" y="0"/>
                  </a:lnTo>
                  <a:lnTo>
                    <a:pt x="205324" y="120096"/>
                  </a:lnTo>
                  <a:lnTo>
                    <a:pt x="102662" y="240191"/>
                  </a:lnTo>
                  <a:lnTo>
                    <a:pt x="102662" y="192153"/>
                  </a:lnTo>
                  <a:lnTo>
                    <a:pt x="0" y="192153"/>
                  </a:lnTo>
                  <a:lnTo>
                    <a:pt x="0" y="48038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8038" rIns="61597" bIns="48038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700" kern="1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015644-2E93-5F2C-1ADA-7CEFAD22393B}"/>
                </a:ext>
              </a:extLst>
            </p:cNvPr>
            <p:cNvSpPr/>
            <p:nvPr/>
          </p:nvSpPr>
          <p:spPr>
            <a:xfrm>
              <a:off x="5837211" y="2581365"/>
              <a:ext cx="968512" cy="581107"/>
            </a:xfrm>
            <a:custGeom>
              <a:avLst/>
              <a:gdLst>
                <a:gd name="csX0" fmla="*/ 0 w 968512"/>
                <a:gd name="csY0" fmla="*/ 58111 h 581107"/>
                <a:gd name="csX1" fmla="*/ 58111 w 968512"/>
                <a:gd name="csY1" fmla="*/ 0 h 581107"/>
                <a:gd name="csX2" fmla="*/ 910401 w 968512"/>
                <a:gd name="csY2" fmla="*/ 0 h 581107"/>
                <a:gd name="csX3" fmla="*/ 968512 w 968512"/>
                <a:gd name="csY3" fmla="*/ 58111 h 581107"/>
                <a:gd name="csX4" fmla="*/ 968512 w 968512"/>
                <a:gd name="csY4" fmla="*/ 522996 h 581107"/>
                <a:gd name="csX5" fmla="*/ 910401 w 968512"/>
                <a:gd name="csY5" fmla="*/ 581107 h 581107"/>
                <a:gd name="csX6" fmla="*/ 58111 w 968512"/>
                <a:gd name="csY6" fmla="*/ 581107 h 581107"/>
                <a:gd name="csX7" fmla="*/ 0 w 968512"/>
                <a:gd name="csY7" fmla="*/ 522996 h 581107"/>
                <a:gd name="csX8" fmla="*/ 0 w 968512"/>
                <a:gd name="csY8" fmla="*/ 58111 h 581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68512" h="581107">
                  <a:moveTo>
                    <a:pt x="0" y="58111"/>
                  </a:moveTo>
                  <a:cubicBezTo>
                    <a:pt x="0" y="26017"/>
                    <a:pt x="26017" y="0"/>
                    <a:pt x="58111" y="0"/>
                  </a:cubicBezTo>
                  <a:lnTo>
                    <a:pt x="910401" y="0"/>
                  </a:lnTo>
                  <a:cubicBezTo>
                    <a:pt x="942495" y="0"/>
                    <a:pt x="968512" y="26017"/>
                    <a:pt x="968512" y="58111"/>
                  </a:cubicBezTo>
                  <a:lnTo>
                    <a:pt x="968512" y="522996"/>
                  </a:lnTo>
                  <a:cubicBezTo>
                    <a:pt x="968512" y="555090"/>
                    <a:pt x="942495" y="581107"/>
                    <a:pt x="910401" y="581107"/>
                  </a:cubicBezTo>
                  <a:lnTo>
                    <a:pt x="58111" y="581107"/>
                  </a:lnTo>
                  <a:cubicBezTo>
                    <a:pt x="26017" y="581107"/>
                    <a:pt x="0" y="555090"/>
                    <a:pt x="0" y="522996"/>
                  </a:cubicBezTo>
                  <a:lnTo>
                    <a:pt x="0" y="581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1310" tIns="51310" rIns="51310" bIns="5131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kern="1200" dirty="0"/>
                <a:t>Lexer (Tokenizer)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kern="1200" dirty="0"/>
                <a:t>Lexical Analysis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446BE73-AFE6-84AA-0687-B1E66EF3C8E4}"/>
                </a:ext>
              </a:extLst>
            </p:cNvPr>
            <p:cNvSpPr/>
            <p:nvPr/>
          </p:nvSpPr>
          <p:spPr>
            <a:xfrm>
              <a:off x="6890952" y="2751823"/>
              <a:ext cx="205324" cy="240191"/>
            </a:xfrm>
            <a:custGeom>
              <a:avLst/>
              <a:gdLst>
                <a:gd name="csX0" fmla="*/ 0 w 205324"/>
                <a:gd name="csY0" fmla="*/ 48038 h 240191"/>
                <a:gd name="csX1" fmla="*/ 102662 w 205324"/>
                <a:gd name="csY1" fmla="*/ 48038 h 240191"/>
                <a:gd name="csX2" fmla="*/ 102662 w 205324"/>
                <a:gd name="csY2" fmla="*/ 0 h 240191"/>
                <a:gd name="csX3" fmla="*/ 205324 w 205324"/>
                <a:gd name="csY3" fmla="*/ 120096 h 240191"/>
                <a:gd name="csX4" fmla="*/ 102662 w 205324"/>
                <a:gd name="csY4" fmla="*/ 240191 h 240191"/>
                <a:gd name="csX5" fmla="*/ 102662 w 205324"/>
                <a:gd name="csY5" fmla="*/ 192153 h 240191"/>
                <a:gd name="csX6" fmla="*/ 0 w 205324"/>
                <a:gd name="csY6" fmla="*/ 192153 h 240191"/>
                <a:gd name="csX7" fmla="*/ 0 w 205324"/>
                <a:gd name="csY7" fmla="*/ 48038 h 240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5324" h="240191">
                  <a:moveTo>
                    <a:pt x="0" y="48038"/>
                  </a:moveTo>
                  <a:lnTo>
                    <a:pt x="102662" y="48038"/>
                  </a:lnTo>
                  <a:lnTo>
                    <a:pt x="102662" y="0"/>
                  </a:lnTo>
                  <a:lnTo>
                    <a:pt x="205324" y="120096"/>
                  </a:lnTo>
                  <a:lnTo>
                    <a:pt x="102662" y="240191"/>
                  </a:lnTo>
                  <a:lnTo>
                    <a:pt x="102662" y="192153"/>
                  </a:lnTo>
                  <a:lnTo>
                    <a:pt x="0" y="192153"/>
                  </a:lnTo>
                  <a:lnTo>
                    <a:pt x="0" y="48038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8038" rIns="61597" bIns="48038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700" kern="1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3859042-E3E3-E29B-818A-C48DC9D59723}"/>
                </a:ext>
              </a:extLst>
            </p:cNvPr>
            <p:cNvSpPr/>
            <p:nvPr/>
          </p:nvSpPr>
          <p:spPr>
            <a:xfrm>
              <a:off x="7193128" y="2581365"/>
              <a:ext cx="968512" cy="581107"/>
            </a:xfrm>
            <a:custGeom>
              <a:avLst/>
              <a:gdLst>
                <a:gd name="csX0" fmla="*/ 0 w 968512"/>
                <a:gd name="csY0" fmla="*/ 58111 h 581107"/>
                <a:gd name="csX1" fmla="*/ 58111 w 968512"/>
                <a:gd name="csY1" fmla="*/ 0 h 581107"/>
                <a:gd name="csX2" fmla="*/ 910401 w 968512"/>
                <a:gd name="csY2" fmla="*/ 0 h 581107"/>
                <a:gd name="csX3" fmla="*/ 968512 w 968512"/>
                <a:gd name="csY3" fmla="*/ 58111 h 581107"/>
                <a:gd name="csX4" fmla="*/ 968512 w 968512"/>
                <a:gd name="csY4" fmla="*/ 522996 h 581107"/>
                <a:gd name="csX5" fmla="*/ 910401 w 968512"/>
                <a:gd name="csY5" fmla="*/ 581107 h 581107"/>
                <a:gd name="csX6" fmla="*/ 58111 w 968512"/>
                <a:gd name="csY6" fmla="*/ 581107 h 581107"/>
                <a:gd name="csX7" fmla="*/ 0 w 968512"/>
                <a:gd name="csY7" fmla="*/ 522996 h 581107"/>
                <a:gd name="csX8" fmla="*/ 0 w 968512"/>
                <a:gd name="csY8" fmla="*/ 58111 h 581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68512" h="581107">
                  <a:moveTo>
                    <a:pt x="0" y="58111"/>
                  </a:moveTo>
                  <a:cubicBezTo>
                    <a:pt x="0" y="26017"/>
                    <a:pt x="26017" y="0"/>
                    <a:pt x="58111" y="0"/>
                  </a:cubicBezTo>
                  <a:lnTo>
                    <a:pt x="910401" y="0"/>
                  </a:lnTo>
                  <a:cubicBezTo>
                    <a:pt x="942495" y="0"/>
                    <a:pt x="968512" y="26017"/>
                    <a:pt x="968512" y="58111"/>
                  </a:cubicBezTo>
                  <a:lnTo>
                    <a:pt x="968512" y="522996"/>
                  </a:lnTo>
                  <a:cubicBezTo>
                    <a:pt x="968512" y="555090"/>
                    <a:pt x="942495" y="581107"/>
                    <a:pt x="910401" y="581107"/>
                  </a:cubicBezTo>
                  <a:lnTo>
                    <a:pt x="58111" y="581107"/>
                  </a:lnTo>
                  <a:cubicBezTo>
                    <a:pt x="26017" y="581107"/>
                    <a:pt x="0" y="555090"/>
                    <a:pt x="0" y="522996"/>
                  </a:cubicBezTo>
                  <a:lnTo>
                    <a:pt x="0" y="581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1310" tIns="51310" rIns="51310" bIns="5131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kern="1200" dirty="0"/>
                <a:t>Parser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kern="1200" dirty="0"/>
                <a:t>Syntax Analysis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F39BC19-6986-CC36-59B7-281C25B66A21}"/>
                </a:ext>
              </a:extLst>
            </p:cNvPr>
            <p:cNvSpPr/>
            <p:nvPr/>
          </p:nvSpPr>
          <p:spPr>
            <a:xfrm>
              <a:off x="7557288" y="3247701"/>
              <a:ext cx="240192" cy="205325"/>
            </a:xfrm>
            <a:custGeom>
              <a:avLst/>
              <a:gdLst>
                <a:gd name="csX0" fmla="*/ 0 w 205324"/>
                <a:gd name="csY0" fmla="*/ 48038 h 240191"/>
                <a:gd name="csX1" fmla="*/ 102662 w 205324"/>
                <a:gd name="csY1" fmla="*/ 48038 h 240191"/>
                <a:gd name="csX2" fmla="*/ 102662 w 205324"/>
                <a:gd name="csY2" fmla="*/ 0 h 240191"/>
                <a:gd name="csX3" fmla="*/ 205324 w 205324"/>
                <a:gd name="csY3" fmla="*/ 120096 h 240191"/>
                <a:gd name="csX4" fmla="*/ 102662 w 205324"/>
                <a:gd name="csY4" fmla="*/ 240191 h 240191"/>
                <a:gd name="csX5" fmla="*/ 102662 w 205324"/>
                <a:gd name="csY5" fmla="*/ 192153 h 240191"/>
                <a:gd name="csX6" fmla="*/ 0 w 205324"/>
                <a:gd name="csY6" fmla="*/ 192153 h 240191"/>
                <a:gd name="csX7" fmla="*/ 0 w 205324"/>
                <a:gd name="csY7" fmla="*/ 48038 h 240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5324" h="240191">
                  <a:moveTo>
                    <a:pt x="164259" y="1"/>
                  </a:moveTo>
                  <a:lnTo>
                    <a:pt x="164259" y="120096"/>
                  </a:lnTo>
                  <a:lnTo>
                    <a:pt x="205324" y="120095"/>
                  </a:lnTo>
                  <a:lnTo>
                    <a:pt x="102662" y="240190"/>
                  </a:lnTo>
                  <a:lnTo>
                    <a:pt x="0" y="120096"/>
                  </a:lnTo>
                  <a:lnTo>
                    <a:pt x="41065" y="120096"/>
                  </a:lnTo>
                  <a:lnTo>
                    <a:pt x="41065" y="1"/>
                  </a:lnTo>
                  <a:lnTo>
                    <a:pt x="164259" y="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8039" tIns="1" rIns="48038" bIns="61597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700" kern="1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D6C8539-D3DF-2B83-E70E-581A4D59BB20}"/>
                </a:ext>
              </a:extLst>
            </p:cNvPr>
            <p:cNvSpPr/>
            <p:nvPr/>
          </p:nvSpPr>
          <p:spPr>
            <a:xfrm>
              <a:off x="7193128" y="3549877"/>
              <a:ext cx="968512" cy="581107"/>
            </a:xfrm>
            <a:custGeom>
              <a:avLst/>
              <a:gdLst>
                <a:gd name="csX0" fmla="*/ 0 w 968512"/>
                <a:gd name="csY0" fmla="*/ 58111 h 581107"/>
                <a:gd name="csX1" fmla="*/ 58111 w 968512"/>
                <a:gd name="csY1" fmla="*/ 0 h 581107"/>
                <a:gd name="csX2" fmla="*/ 910401 w 968512"/>
                <a:gd name="csY2" fmla="*/ 0 h 581107"/>
                <a:gd name="csX3" fmla="*/ 968512 w 968512"/>
                <a:gd name="csY3" fmla="*/ 58111 h 581107"/>
                <a:gd name="csX4" fmla="*/ 968512 w 968512"/>
                <a:gd name="csY4" fmla="*/ 522996 h 581107"/>
                <a:gd name="csX5" fmla="*/ 910401 w 968512"/>
                <a:gd name="csY5" fmla="*/ 581107 h 581107"/>
                <a:gd name="csX6" fmla="*/ 58111 w 968512"/>
                <a:gd name="csY6" fmla="*/ 581107 h 581107"/>
                <a:gd name="csX7" fmla="*/ 0 w 968512"/>
                <a:gd name="csY7" fmla="*/ 522996 h 581107"/>
                <a:gd name="csX8" fmla="*/ 0 w 968512"/>
                <a:gd name="csY8" fmla="*/ 58111 h 581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68512" h="581107">
                  <a:moveTo>
                    <a:pt x="0" y="58111"/>
                  </a:moveTo>
                  <a:cubicBezTo>
                    <a:pt x="0" y="26017"/>
                    <a:pt x="26017" y="0"/>
                    <a:pt x="58111" y="0"/>
                  </a:cubicBezTo>
                  <a:lnTo>
                    <a:pt x="910401" y="0"/>
                  </a:lnTo>
                  <a:cubicBezTo>
                    <a:pt x="942495" y="0"/>
                    <a:pt x="968512" y="26017"/>
                    <a:pt x="968512" y="58111"/>
                  </a:cubicBezTo>
                  <a:lnTo>
                    <a:pt x="968512" y="522996"/>
                  </a:lnTo>
                  <a:cubicBezTo>
                    <a:pt x="968512" y="555090"/>
                    <a:pt x="942495" y="581107"/>
                    <a:pt x="910401" y="581107"/>
                  </a:cubicBezTo>
                  <a:lnTo>
                    <a:pt x="58111" y="581107"/>
                  </a:lnTo>
                  <a:cubicBezTo>
                    <a:pt x="26017" y="581107"/>
                    <a:pt x="0" y="555090"/>
                    <a:pt x="0" y="522996"/>
                  </a:cubicBezTo>
                  <a:lnTo>
                    <a:pt x="0" y="581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1310" tIns="51310" rIns="51310" bIns="5131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kern="1200" dirty="0"/>
                <a:t>Python Compiler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D8D7C4-82C4-D168-76D5-CFE9FCF109C6}"/>
                </a:ext>
              </a:extLst>
            </p:cNvPr>
            <p:cNvSpPr/>
            <p:nvPr/>
          </p:nvSpPr>
          <p:spPr>
            <a:xfrm rot="21600000">
              <a:off x="6902574" y="3720334"/>
              <a:ext cx="205324" cy="240192"/>
            </a:xfrm>
            <a:custGeom>
              <a:avLst/>
              <a:gdLst>
                <a:gd name="csX0" fmla="*/ 0 w 205324"/>
                <a:gd name="csY0" fmla="*/ 48038 h 240191"/>
                <a:gd name="csX1" fmla="*/ 102662 w 205324"/>
                <a:gd name="csY1" fmla="*/ 48038 h 240191"/>
                <a:gd name="csX2" fmla="*/ 102662 w 205324"/>
                <a:gd name="csY2" fmla="*/ 0 h 240191"/>
                <a:gd name="csX3" fmla="*/ 205324 w 205324"/>
                <a:gd name="csY3" fmla="*/ 120096 h 240191"/>
                <a:gd name="csX4" fmla="*/ 102662 w 205324"/>
                <a:gd name="csY4" fmla="*/ 240191 h 240191"/>
                <a:gd name="csX5" fmla="*/ 102662 w 205324"/>
                <a:gd name="csY5" fmla="*/ 192153 h 240191"/>
                <a:gd name="csX6" fmla="*/ 0 w 205324"/>
                <a:gd name="csY6" fmla="*/ 192153 h 240191"/>
                <a:gd name="csX7" fmla="*/ 0 w 205324"/>
                <a:gd name="csY7" fmla="*/ 48038 h 240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5324" h="240191">
                  <a:moveTo>
                    <a:pt x="205324" y="192153"/>
                  </a:moveTo>
                  <a:lnTo>
                    <a:pt x="102662" y="192153"/>
                  </a:lnTo>
                  <a:lnTo>
                    <a:pt x="102662" y="240191"/>
                  </a:lnTo>
                  <a:lnTo>
                    <a:pt x="0" y="120095"/>
                  </a:lnTo>
                  <a:lnTo>
                    <a:pt x="102662" y="0"/>
                  </a:lnTo>
                  <a:lnTo>
                    <a:pt x="102662" y="48038"/>
                  </a:lnTo>
                  <a:lnTo>
                    <a:pt x="205324" y="48038"/>
                  </a:lnTo>
                  <a:lnTo>
                    <a:pt x="205324" y="19215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1597" tIns="48039" rIns="0" bIns="48038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700" kern="12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609587-D46A-A158-12C0-0BA91B89185C}"/>
                </a:ext>
              </a:extLst>
            </p:cNvPr>
            <p:cNvSpPr/>
            <p:nvPr/>
          </p:nvSpPr>
          <p:spPr>
            <a:xfrm>
              <a:off x="5837211" y="3549877"/>
              <a:ext cx="968512" cy="581107"/>
            </a:xfrm>
            <a:custGeom>
              <a:avLst/>
              <a:gdLst>
                <a:gd name="csX0" fmla="*/ 0 w 968512"/>
                <a:gd name="csY0" fmla="*/ 58111 h 581107"/>
                <a:gd name="csX1" fmla="*/ 58111 w 968512"/>
                <a:gd name="csY1" fmla="*/ 0 h 581107"/>
                <a:gd name="csX2" fmla="*/ 910401 w 968512"/>
                <a:gd name="csY2" fmla="*/ 0 h 581107"/>
                <a:gd name="csX3" fmla="*/ 968512 w 968512"/>
                <a:gd name="csY3" fmla="*/ 58111 h 581107"/>
                <a:gd name="csX4" fmla="*/ 968512 w 968512"/>
                <a:gd name="csY4" fmla="*/ 522996 h 581107"/>
                <a:gd name="csX5" fmla="*/ 910401 w 968512"/>
                <a:gd name="csY5" fmla="*/ 581107 h 581107"/>
                <a:gd name="csX6" fmla="*/ 58111 w 968512"/>
                <a:gd name="csY6" fmla="*/ 581107 h 581107"/>
                <a:gd name="csX7" fmla="*/ 0 w 968512"/>
                <a:gd name="csY7" fmla="*/ 522996 h 581107"/>
                <a:gd name="csX8" fmla="*/ 0 w 968512"/>
                <a:gd name="csY8" fmla="*/ 58111 h 581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68512" h="581107">
                  <a:moveTo>
                    <a:pt x="0" y="58111"/>
                  </a:moveTo>
                  <a:cubicBezTo>
                    <a:pt x="0" y="26017"/>
                    <a:pt x="26017" y="0"/>
                    <a:pt x="58111" y="0"/>
                  </a:cubicBezTo>
                  <a:lnTo>
                    <a:pt x="910401" y="0"/>
                  </a:lnTo>
                  <a:cubicBezTo>
                    <a:pt x="942495" y="0"/>
                    <a:pt x="968512" y="26017"/>
                    <a:pt x="968512" y="58111"/>
                  </a:cubicBezTo>
                  <a:lnTo>
                    <a:pt x="968512" y="522996"/>
                  </a:lnTo>
                  <a:cubicBezTo>
                    <a:pt x="968512" y="555090"/>
                    <a:pt x="942495" y="581107"/>
                    <a:pt x="910401" y="581107"/>
                  </a:cubicBezTo>
                  <a:lnTo>
                    <a:pt x="58111" y="581107"/>
                  </a:lnTo>
                  <a:cubicBezTo>
                    <a:pt x="26017" y="581107"/>
                    <a:pt x="0" y="555090"/>
                    <a:pt x="0" y="522996"/>
                  </a:cubicBezTo>
                  <a:lnTo>
                    <a:pt x="0" y="581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1310" tIns="51310" rIns="51310" bIns="5131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kern="1200" dirty="0"/>
                <a:t>Bytecode(.</a:t>
              </a:r>
              <a:r>
                <a:rPr lang="en-IN" sz="900" kern="1200" dirty="0" err="1"/>
                <a:t>pyc</a:t>
              </a:r>
              <a:r>
                <a:rPr lang="en-IN" sz="900" kern="1200" dirty="0"/>
                <a:t>)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6657570-E695-2883-9512-2AA7C2964837}"/>
                </a:ext>
              </a:extLst>
            </p:cNvPr>
            <p:cNvSpPr/>
            <p:nvPr/>
          </p:nvSpPr>
          <p:spPr>
            <a:xfrm rot="21600000">
              <a:off x="5546657" y="3720334"/>
              <a:ext cx="205325" cy="240192"/>
            </a:xfrm>
            <a:custGeom>
              <a:avLst/>
              <a:gdLst>
                <a:gd name="csX0" fmla="*/ 0 w 205324"/>
                <a:gd name="csY0" fmla="*/ 48038 h 240191"/>
                <a:gd name="csX1" fmla="*/ 102662 w 205324"/>
                <a:gd name="csY1" fmla="*/ 48038 h 240191"/>
                <a:gd name="csX2" fmla="*/ 102662 w 205324"/>
                <a:gd name="csY2" fmla="*/ 0 h 240191"/>
                <a:gd name="csX3" fmla="*/ 205324 w 205324"/>
                <a:gd name="csY3" fmla="*/ 120096 h 240191"/>
                <a:gd name="csX4" fmla="*/ 102662 w 205324"/>
                <a:gd name="csY4" fmla="*/ 240191 h 240191"/>
                <a:gd name="csX5" fmla="*/ 102662 w 205324"/>
                <a:gd name="csY5" fmla="*/ 192153 h 240191"/>
                <a:gd name="csX6" fmla="*/ 0 w 205324"/>
                <a:gd name="csY6" fmla="*/ 192153 h 240191"/>
                <a:gd name="csX7" fmla="*/ 0 w 205324"/>
                <a:gd name="csY7" fmla="*/ 48038 h 240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5324" h="240191">
                  <a:moveTo>
                    <a:pt x="205324" y="192153"/>
                  </a:moveTo>
                  <a:lnTo>
                    <a:pt x="102662" y="192153"/>
                  </a:lnTo>
                  <a:lnTo>
                    <a:pt x="102662" y="240191"/>
                  </a:lnTo>
                  <a:lnTo>
                    <a:pt x="0" y="120095"/>
                  </a:lnTo>
                  <a:lnTo>
                    <a:pt x="102662" y="0"/>
                  </a:lnTo>
                  <a:lnTo>
                    <a:pt x="102662" y="48038"/>
                  </a:lnTo>
                  <a:lnTo>
                    <a:pt x="205324" y="48038"/>
                  </a:lnTo>
                  <a:lnTo>
                    <a:pt x="205324" y="19215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1597" tIns="48039" rIns="1" bIns="48038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700" kern="12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D22EFB8-DD7D-0909-EAB4-CEFCB5C4664D}"/>
                </a:ext>
              </a:extLst>
            </p:cNvPr>
            <p:cNvSpPr/>
            <p:nvPr/>
          </p:nvSpPr>
          <p:spPr>
            <a:xfrm>
              <a:off x="4481294" y="3549877"/>
              <a:ext cx="968512" cy="581107"/>
            </a:xfrm>
            <a:custGeom>
              <a:avLst/>
              <a:gdLst>
                <a:gd name="csX0" fmla="*/ 0 w 968512"/>
                <a:gd name="csY0" fmla="*/ 58111 h 581107"/>
                <a:gd name="csX1" fmla="*/ 58111 w 968512"/>
                <a:gd name="csY1" fmla="*/ 0 h 581107"/>
                <a:gd name="csX2" fmla="*/ 910401 w 968512"/>
                <a:gd name="csY2" fmla="*/ 0 h 581107"/>
                <a:gd name="csX3" fmla="*/ 968512 w 968512"/>
                <a:gd name="csY3" fmla="*/ 58111 h 581107"/>
                <a:gd name="csX4" fmla="*/ 968512 w 968512"/>
                <a:gd name="csY4" fmla="*/ 522996 h 581107"/>
                <a:gd name="csX5" fmla="*/ 910401 w 968512"/>
                <a:gd name="csY5" fmla="*/ 581107 h 581107"/>
                <a:gd name="csX6" fmla="*/ 58111 w 968512"/>
                <a:gd name="csY6" fmla="*/ 581107 h 581107"/>
                <a:gd name="csX7" fmla="*/ 0 w 968512"/>
                <a:gd name="csY7" fmla="*/ 522996 h 581107"/>
                <a:gd name="csX8" fmla="*/ 0 w 968512"/>
                <a:gd name="csY8" fmla="*/ 58111 h 581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68512" h="581107">
                  <a:moveTo>
                    <a:pt x="0" y="58111"/>
                  </a:moveTo>
                  <a:cubicBezTo>
                    <a:pt x="0" y="26017"/>
                    <a:pt x="26017" y="0"/>
                    <a:pt x="58111" y="0"/>
                  </a:cubicBezTo>
                  <a:lnTo>
                    <a:pt x="910401" y="0"/>
                  </a:lnTo>
                  <a:cubicBezTo>
                    <a:pt x="942495" y="0"/>
                    <a:pt x="968512" y="26017"/>
                    <a:pt x="968512" y="58111"/>
                  </a:cubicBezTo>
                  <a:lnTo>
                    <a:pt x="968512" y="522996"/>
                  </a:lnTo>
                  <a:cubicBezTo>
                    <a:pt x="968512" y="555090"/>
                    <a:pt x="942495" y="581107"/>
                    <a:pt x="910401" y="581107"/>
                  </a:cubicBezTo>
                  <a:lnTo>
                    <a:pt x="58111" y="581107"/>
                  </a:lnTo>
                  <a:cubicBezTo>
                    <a:pt x="26017" y="581107"/>
                    <a:pt x="0" y="555090"/>
                    <a:pt x="0" y="522996"/>
                  </a:cubicBezTo>
                  <a:lnTo>
                    <a:pt x="0" y="581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1310" tIns="51310" rIns="51310" bIns="5131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kern="1200" dirty="0"/>
                <a:t>Python Virtual Machine (PVM)</a:t>
              </a:r>
            </a:p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dirty="0"/>
                <a:t>Interpreter</a:t>
              </a:r>
              <a:endParaRPr lang="en-IN" sz="900" kern="120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045E31A-9C5D-0C22-E356-A5FCF75EE017}"/>
                </a:ext>
              </a:extLst>
            </p:cNvPr>
            <p:cNvSpPr/>
            <p:nvPr/>
          </p:nvSpPr>
          <p:spPr>
            <a:xfrm>
              <a:off x="4845454" y="4216214"/>
              <a:ext cx="240192" cy="205325"/>
            </a:xfrm>
            <a:custGeom>
              <a:avLst/>
              <a:gdLst>
                <a:gd name="csX0" fmla="*/ 0 w 205324"/>
                <a:gd name="csY0" fmla="*/ 48038 h 240191"/>
                <a:gd name="csX1" fmla="*/ 102662 w 205324"/>
                <a:gd name="csY1" fmla="*/ 48038 h 240191"/>
                <a:gd name="csX2" fmla="*/ 102662 w 205324"/>
                <a:gd name="csY2" fmla="*/ 0 h 240191"/>
                <a:gd name="csX3" fmla="*/ 205324 w 205324"/>
                <a:gd name="csY3" fmla="*/ 120096 h 240191"/>
                <a:gd name="csX4" fmla="*/ 102662 w 205324"/>
                <a:gd name="csY4" fmla="*/ 240191 h 240191"/>
                <a:gd name="csX5" fmla="*/ 102662 w 205324"/>
                <a:gd name="csY5" fmla="*/ 192153 h 240191"/>
                <a:gd name="csX6" fmla="*/ 0 w 205324"/>
                <a:gd name="csY6" fmla="*/ 192153 h 240191"/>
                <a:gd name="csX7" fmla="*/ 0 w 205324"/>
                <a:gd name="csY7" fmla="*/ 48038 h 240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5324" h="240191">
                  <a:moveTo>
                    <a:pt x="164259" y="1"/>
                  </a:moveTo>
                  <a:lnTo>
                    <a:pt x="164259" y="120096"/>
                  </a:lnTo>
                  <a:lnTo>
                    <a:pt x="205324" y="120095"/>
                  </a:lnTo>
                  <a:lnTo>
                    <a:pt x="102662" y="240190"/>
                  </a:lnTo>
                  <a:lnTo>
                    <a:pt x="0" y="120096"/>
                  </a:lnTo>
                  <a:lnTo>
                    <a:pt x="41065" y="120096"/>
                  </a:lnTo>
                  <a:lnTo>
                    <a:pt x="41065" y="1"/>
                  </a:lnTo>
                  <a:lnTo>
                    <a:pt x="164259" y="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8039" tIns="1" rIns="48038" bIns="61597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700" kern="12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3858595-0414-7750-56E2-826497FD0A6C}"/>
                </a:ext>
              </a:extLst>
            </p:cNvPr>
            <p:cNvSpPr/>
            <p:nvPr/>
          </p:nvSpPr>
          <p:spPr>
            <a:xfrm>
              <a:off x="4481294" y="4518390"/>
              <a:ext cx="968512" cy="581107"/>
            </a:xfrm>
            <a:custGeom>
              <a:avLst/>
              <a:gdLst>
                <a:gd name="csX0" fmla="*/ 0 w 968512"/>
                <a:gd name="csY0" fmla="*/ 58111 h 581107"/>
                <a:gd name="csX1" fmla="*/ 58111 w 968512"/>
                <a:gd name="csY1" fmla="*/ 0 h 581107"/>
                <a:gd name="csX2" fmla="*/ 910401 w 968512"/>
                <a:gd name="csY2" fmla="*/ 0 h 581107"/>
                <a:gd name="csX3" fmla="*/ 968512 w 968512"/>
                <a:gd name="csY3" fmla="*/ 58111 h 581107"/>
                <a:gd name="csX4" fmla="*/ 968512 w 968512"/>
                <a:gd name="csY4" fmla="*/ 522996 h 581107"/>
                <a:gd name="csX5" fmla="*/ 910401 w 968512"/>
                <a:gd name="csY5" fmla="*/ 581107 h 581107"/>
                <a:gd name="csX6" fmla="*/ 58111 w 968512"/>
                <a:gd name="csY6" fmla="*/ 581107 h 581107"/>
                <a:gd name="csX7" fmla="*/ 0 w 968512"/>
                <a:gd name="csY7" fmla="*/ 522996 h 581107"/>
                <a:gd name="csX8" fmla="*/ 0 w 968512"/>
                <a:gd name="csY8" fmla="*/ 58111 h 581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68512" h="581107">
                  <a:moveTo>
                    <a:pt x="0" y="58111"/>
                  </a:moveTo>
                  <a:cubicBezTo>
                    <a:pt x="0" y="26017"/>
                    <a:pt x="26017" y="0"/>
                    <a:pt x="58111" y="0"/>
                  </a:cubicBezTo>
                  <a:lnTo>
                    <a:pt x="910401" y="0"/>
                  </a:lnTo>
                  <a:cubicBezTo>
                    <a:pt x="942495" y="0"/>
                    <a:pt x="968512" y="26017"/>
                    <a:pt x="968512" y="58111"/>
                  </a:cubicBezTo>
                  <a:lnTo>
                    <a:pt x="968512" y="522996"/>
                  </a:lnTo>
                  <a:cubicBezTo>
                    <a:pt x="968512" y="555090"/>
                    <a:pt x="942495" y="581107"/>
                    <a:pt x="910401" y="581107"/>
                  </a:cubicBezTo>
                  <a:lnTo>
                    <a:pt x="58111" y="581107"/>
                  </a:lnTo>
                  <a:cubicBezTo>
                    <a:pt x="26017" y="581107"/>
                    <a:pt x="0" y="555090"/>
                    <a:pt x="0" y="522996"/>
                  </a:cubicBezTo>
                  <a:lnTo>
                    <a:pt x="0" y="5811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1310" tIns="51310" rIns="51310" bIns="5131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kern="1200" dirty="0"/>
                <a:t>CPU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and Garbage Collector in python</a:t>
            </a:r>
            <a:endParaRPr dirty="0"/>
          </a:p>
        </p:txBody>
      </p:sp>
      <p:pic>
        <p:nvPicPr>
          <p:cNvPr id="9" name="Picture 8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F0A5E0F0-0412-2D5C-4E09-CB00CE1FD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30" y="2129682"/>
            <a:ext cx="7189940" cy="4243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VS Package Vs Library</a:t>
            </a:r>
            <a:endParaRPr dirty="0"/>
          </a:p>
        </p:txBody>
      </p:sp>
      <p:pic>
        <p:nvPicPr>
          <p:cNvPr id="7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E80733D-E83F-6E80-3DDF-E66C51247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108" y="2120900"/>
            <a:ext cx="2558346" cy="4051300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9BCDF06-A347-CA02-E759-7E45A1B9D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508" y="2162312"/>
            <a:ext cx="2452984" cy="3968476"/>
          </a:xfrm>
          <a:prstGeom prst="rect">
            <a:avLst/>
          </a:prstGeom>
        </p:spPr>
      </p:pic>
      <p:pic>
        <p:nvPicPr>
          <p:cNvPr id="16" name="Picture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2CD98BE-6074-12E8-2669-638186810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492" y="2117857"/>
            <a:ext cx="2794363" cy="42555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78ED-A0FA-3D2C-8315-0D7B6EBF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7302-7711-15C6-9EBB-703239D0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Data Types (With Use Cases)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7632E-68F1-69A5-007D-55C5D7CAE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 – IDs, counters</a:t>
            </a:r>
            <a:endParaRPr lang="en-IN" dirty="0"/>
          </a:p>
          <a:p>
            <a:r>
              <a:rPr dirty="0"/>
              <a:t>float – prices, metrics</a:t>
            </a:r>
            <a:endParaRPr lang="en-IN" dirty="0"/>
          </a:p>
          <a:p>
            <a:r>
              <a:rPr dirty="0"/>
              <a:t>str – user input, APIs</a:t>
            </a:r>
            <a:endParaRPr lang="en-IN" dirty="0"/>
          </a:p>
          <a:p>
            <a:r>
              <a:rPr lang="en-IN" dirty="0"/>
              <a:t>l</a:t>
            </a:r>
            <a:r>
              <a:rPr dirty="0" err="1"/>
              <a:t>ist</a:t>
            </a:r>
            <a:r>
              <a:rPr lang="en-IN" dirty="0"/>
              <a:t>, tuple, set</a:t>
            </a:r>
            <a:r>
              <a:rPr dirty="0"/>
              <a:t> – collections of records</a:t>
            </a:r>
            <a:endParaRPr lang="en-IN" dirty="0"/>
          </a:p>
          <a:p>
            <a:r>
              <a:rPr dirty="0" err="1"/>
              <a:t>dict</a:t>
            </a:r>
            <a:r>
              <a:rPr dirty="0"/>
              <a:t> – structured data</a:t>
            </a:r>
            <a:r>
              <a:rPr lang="en-IN" dirty="0"/>
              <a:t> (key-value)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7688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243C5-BE21-D58D-BEDB-5B7352611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AEA14-F6B6-86B9-25C1-2773523D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Mutable vs Immutable</a:t>
            </a:r>
            <a:r>
              <a:rPr lang="en-IN" dirty="0"/>
              <a:t> Data Types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94B6-564D-4014-5499-7D3D4BA73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Mutable: list, </a:t>
            </a:r>
            <a:r>
              <a:rPr b="1" dirty="0" err="1"/>
              <a:t>dict</a:t>
            </a:r>
            <a:r>
              <a:rPr lang="en-IN" b="1" dirty="0"/>
              <a:t>, set</a:t>
            </a:r>
          </a:p>
          <a:p>
            <a:pPr marL="0" indent="0">
              <a:buNone/>
            </a:pPr>
            <a:r>
              <a:rPr lang="en-US" dirty="0"/>
              <a:t>Mutable → Can change after creation</a:t>
            </a:r>
            <a:endParaRPr lang="en-I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List is mutable because we modified it without creating a new object.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Dictionary values can be changed.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Set can be modified.</a:t>
            </a:r>
          </a:p>
          <a:p>
            <a:pPr marL="0" indent="0">
              <a:buNone/>
            </a:pPr>
            <a:r>
              <a:rPr b="1" dirty="0"/>
              <a:t>Immutable: int, str, tuple</a:t>
            </a:r>
            <a:endParaRPr lang="en-IN" b="1" dirty="0"/>
          </a:p>
          <a:p>
            <a:pPr marL="0" indent="0">
              <a:buNone/>
            </a:pPr>
            <a:r>
              <a:rPr lang="en-US" dirty="0"/>
              <a:t>Immutable → Cannot change after creation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New int object is created when value changes.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Strings cannot be modified directly.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Tuple elements cannot be changed.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762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E665-EA3D-151B-D0B5-4090759C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F2263-CC13-24E2-E84B-2DFEEBE0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Conditional Logic in Real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9D71E-DF3F-8366-D8B5-CC87AF0D7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21408"/>
            <a:ext cx="309706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Access control</a:t>
            </a:r>
            <a:endParaRPr lang="en-IN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Authentication → Who are you?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Authorization → What can you do?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Role-Based Access Control (RBAC)</a:t>
            </a:r>
          </a:p>
          <a:p>
            <a:pPr marL="0" indent="0">
              <a:buNone/>
            </a:pPr>
            <a:r>
              <a:rPr b="1" dirty="0"/>
              <a:t>Validation checks</a:t>
            </a:r>
            <a:endParaRPr lang="en-IN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Input validation (form validation)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Business validation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Cross-field validation(relationship between one field to another field)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Database constraint validation</a:t>
            </a:r>
            <a:endParaRPr lang="en-IN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476E67-FC19-932B-346D-0C7171506B28}"/>
              </a:ext>
            </a:extLst>
          </p:cNvPr>
          <p:cNvSpPr txBox="1">
            <a:spLocks/>
          </p:cNvSpPr>
          <p:nvPr/>
        </p:nvSpPr>
        <p:spPr>
          <a:xfrm>
            <a:off x="4852791" y="2121408"/>
            <a:ext cx="309706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Feature toggles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200" dirty="0"/>
              <a:t>Gradual rollouts (increasing hike percentage)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200" dirty="0"/>
              <a:t>Emergency rollback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200" dirty="0"/>
              <a:t>Beta features</a:t>
            </a:r>
            <a:endParaRPr lang="en-US" sz="1200" b="1" dirty="0"/>
          </a:p>
          <a:p>
            <a:pPr marL="0" indent="0">
              <a:buNone/>
            </a:pPr>
            <a:r>
              <a:rPr lang="en-US" b="1" dirty="0"/>
              <a:t>Business rules</a:t>
            </a:r>
          </a:p>
          <a:p>
            <a:pPr marL="0" indent="0">
              <a:buNone/>
            </a:pPr>
            <a:r>
              <a:rPr lang="en-US" sz="1200" dirty="0"/>
              <a:t>Core domain logic that defines </a:t>
            </a:r>
            <a:r>
              <a:rPr lang="en-US" sz="1200" b="1" dirty="0"/>
              <a:t>how the system behaves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b="1" dirty="0"/>
              <a:t>Example:</a:t>
            </a:r>
          </a:p>
          <a:p>
            <a:pPr marL="0" indent="0">
              <a:buNone/>
            </a:pPr>
            <a:r>
              <a:rPr lang="en-US" sz="1200" dirty="0"/>
              <a:t>IF age &gt; 60</a:t>
            </a:r>
          </a:p>
          <a:p>
            <a:pPr marL="0" indent="0">
              <a:buNone/>
            </a:pPr>
            <a:r>
              <a:rPr lang="en-US" sz="1200" dirty="0"/>
              <a:t>AND pre-existing disease = True</a:t>
            </a:r>
          </a:p>
          <a:p>
            <a:pPr marL="0" indent="0">
              <a:buNone/>
            </a:pPr>
            <a:r>
              <a:rPr lang="en-US" sz="1200" dirty="0"/>
              <a:t>AND coverage &gt; 10L</a:t>
            </a:r>
          </a:p>
          <a:p>
            <a:pPr marL="0" indent="0">
              <a:buNone/>
            </a:pPr>
            <a:r>
              <a:rPr lang="en-US" sz="1200" dirty="0"/>
              <a:t>THEN require medical test</a:t>
            </a:r>
          </a:p>
        </p:txBody>
      </p:sp>
    </p:spTree>
    <p:extLst>
      <p:ext uri="{BB962C8B-B14F-4D97-AF65-F5344CB8AC3E}">
        <p14:creationId xmlns:p14="http://schemas.microsoft.com/office/powerpoint/2010/main" val="2594524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Loops in Production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3704573" cy="4050792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b="1" dirty="0"/>
              <a:t>Processing records</a:t>
            </a:r>
            <a:endParaRPr lang="en-IN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Monthly salary processing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EMI auto-deduction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Subscription renewal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Invoice generation</a:t>
            </a:r>
          </a:p>
          <a:p>
            <a:pPr marL="274320" lvl="1" indent="0">
              <a:buNone/>
            </a:pPr>
            <a:endParaRPr lang="en-IN" dirty="0"/>
          </a:p>
          <a:p>
            <a:pPr marL="274320" lvl="1" indent="0">
              <a:buNone/>
            </a:pPr>
            <a:r>
              <a:rPr b="1" dirty="0"/>
              <a:t>Reading files</a:t>
            </a:r>
            <a:endParaRPr lang="en-IN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1300" dirty="0"/>
              <a:t>Upload bulk employee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1300" dirty="0"/>
              <a:t>Import banking transactions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1300" dirty="0"/>
              <a:t>Read log files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1300" dirty="0"/>
              <a:t>ETL pipelines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1300" dirty="0"/>
              <a:t>AI dataset preprocessing</a:t>
            </a:r>
            <a:endParaRPr sz="13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8C87DB-AEF7-0083-2BC4-7371B76C554F}"/>
              </a:ext>
            </a:extLst>
          </p:cNvPr>
          <p:cNvSpPr txBox="1">
            <a:spLocks/>
          </p:cNvSpPr>
          <p:nvPr/>
        </p:nvSpPr>
        <p:spPr>
          <a:xfrm>
            <a:off x="4301646" y="2067128"/>
            <a:ext cx="3704573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 indent="0">
              <a:buNone/>
            </a:pPr>
            <a:r>
              <a:rPr lang="en-IN" b="1" dirty="0"/>
              <a:t>Iterating over API responses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Fetch AWS logs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Sync payment gateway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Collect analytics data</a:t>
            </a:r>
            <a:endParaRPr lang="en-IN" sz="1200" dirty="0"/>
          </a:p>
          <a:p>
            <a:pPr marL="274320" lvl="1" indent="0">
              <a:buNone/>
            </a:pPr>
            <a:endParaRPr lang="en-IN" b="1" dirty="0"/>
          </a:p>
          <a:p>
            <a:pPr marL="274320" lvl="1" indent="0">
              <a:buNone/>
            </a:pPr>
            <a:endParaRPr lang="en-IN" b="1" dirty="0"/>
          </a:p>
          <a:p>
            <a:pPr marL="274320" lvl="1" indent="0">
              <a:buNone/>
            </a:pPr>
            <a:r>
              <a:rPr lang="en-IN" b="1" dirty="0"/>
              <a:t>Handling batch operations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300" dirty="0"/>
              <a:t>Payroll processing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300" dirty="0"/>
              <a:t>Sending 10,000 emails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300" dirty="0"/>
              <a:t>Updating product prices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300" dirty="0"/>
              <a:t>Generating reports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300" dirty="0"/>
              <a:t>ML training data processing</a:t>
            </a:r>
            <a:endParaRPr lang="en-IN" sz="13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Beginner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 Input Validation</a:t>
            </a:r>
          </a:p>
          <a:p>
            <a:r>
              <a:rPr lang="en-US" dirty="0"/>
              <a:t>Writing Everything in One Function</a:t>
            </a:r>
          </a:p>
          <a:p>
            <a:r>
              <a:rPr lang="en-IN" dirty="0"/>
              <a:t>Not Using Logging Properly</a:t>
            </a:r>
          </a:p>
          <a:p>
            <a:r>
              <a:rPr lang="en-IN" dirty="0"/>
              <a:t>Not Writing Tests</a:t>
            </a:r>
          </a:p>
          <a:p>
            <a:r>
              <a:rPr lang="en-IN" dirty="0"/>
              <a:t>Ignoring Performance</a:t>
            </a:r>
            <a:endParaRPr lang="en-US" dirty="0"/>
          </a:p>
          <a:p>
            <a:r>
              <a:rPr dirty="0"/>
              <a:t>Ignoring error messages</a:t>
            </a:r>
            <a:endParaRPr lang="en-IN" dirty="0"/>
          </a:p>
          <a:p>
            <a:r>
              <a:rPr dirty="0"/>
              <a:t>Hardcoded values</a:t>
            </a:r>
            <a:endParaRPr lang="en-IN" dirty="0"/>
          </a:p>
          <a:p>
            <a:r>
              <a:rPr lang="en-IN" dirty="0"/>
              <a:t>Copy-Paste Programming</a:t>
            </a:r>
          </a:p>
          <a:p>
            <a:r>
              <a:rPr lang="en-IN" dirty="0"/>
              <a:t>Ignoring Security Basics </a:t>
            </a:r>
            <a:r>
              <a:rPr lang="en-IN" dirty="0" err="1"/>
              <a:t>eg.</a:t>
            </a:r>
            <a:r>
              <a:rPr lang="en-IN" dirty="0"/>
              <a:t>(CSRF, Input sanitization)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Debugging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Read the error message carefully</a:t>
            </a:r>
            <a:endParaRPr lang="en-IN" dirty="0"/>
          </a:p>
          <a:p>
            <a:r>
              <a:rPr dirty="0"/>
              <a:t>Identify line number</a:t>
            </a:r>
            <a:r>
              <a:rPr lang="en-IN" dirty="0"/>
              <a:t> (e.g. File “app.py”, line 45)</a:t>
            </a:r>
          </a:p>
          <a:p>
            <a:r>
              <a:rPr dirty="0"/>
              <a:t>Understand expected vs actual behavior</a:t>
            </a:r>
            <a:endParaRPr lang="en-IN" dirty="0"/>
          </a:p>
          <a:p>
            <a:r>
              <a:rPr dirty="0"/>
              <a:t>Fix root cause, not symptom</a:t>
            </a:r>
            <a:endParaRPr lang="en-IN" dirty="0"/>
          </a:p>
          <a:p>
            <a:r>
              <a:rPr lang="en-IN" dirty="0"/>
              <a:t>Reduce the Problem Scope - Simplify.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00B050"/>
                </a:solidFill>
              </a:rPr>
              <a:t>“Good developers write code. Great engineers debug efficiently.”</a:t>
            </a:r>
            <a:endParaRPr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Companies Look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Clean, readable code</a:t>
            </a:r>
            <a:endParaRPr lang="en-IN" dirty="0"/>
          </a:p>
          <a:p>
            <a:r>
              <a:rPr dirty="0"/>
              <a:t>Modular structure</a:t>
            </a:r>
            <a:endParaRPr lang="en-IN" dirty="0"/>
          </a:p>
          <a:p>
            <a:r>
              <a:rPr dirty="0"/>
              <a:t>Edge case handling</a:t>
            </a:r>
            <a:endParaRPr lang="en-IN" dirty="0"/>
          </a:p>
          <a:p>
            <a:r>
              <a:rPr dirty="0"/>
              <a:t>Proper naming conventions</a:t>
            </a:r>
            <a:endParaRPr lang="en-IN" dirty="0"/>
          </a:p>
          <a:p>
            <a:r>
              <a:rPr dirty="0"/>
              <a:t>Debugging skills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Improve Coding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Solve 1 problem daily</a:t>
            </a:r>
            <a:endParaRPr lang="en-IN" dirty="0"/>
          </a:p>
          <a:p>
            <a:r>
              <a:rPr dirty="0"/>
              <a:t>Practice on </a:t>
            </a:r>
            <a:r>
              <a:rPr dirty="0" err="1"/>
              <a:t>LeetCode</a:t>
            </a:r>
            <a:r>
              <a:rPr dirty="0"/>
              <a:t> / </a:t>
            </a:r>
            <a:r>
              <a:rPr dirty="0" err="1"/>
              <a:t>HackerRank</a:t>
            </a:r>
            <a:endParaRPr lang="en-IN" dirty="0"/>
          </a:p>
          <a:p>
            <a:r>
              <a:rPr dirty="0"/>
              <a:t>Build small projects</a:t>
            </a:r>
            <a:endParaRPr lang="en-IN" dirty="0"/>
          </a:p>
          <a:p>
            <a:r>
              <a:rPr dirty="0"/>
              <a:t>Review and refactor code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Mini </a:t>
            </a:r>
            <a:r>
              <a:rPr lang="en-IN" dirty="0"/>
              <a:t>Code</a:t>
            </a:r>
            <a:r>
              <a:rPr dirty="0"/>
              <a:t>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3735888" cy="405079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600" b="1" dirty="0">
                <a:solidFill>
                  <a:srgbClr val="0070C0"/>
                </a:solidFill>
              </a:rPr>
              <a:t>Student Ranking &amp; Grading System</a:t>
            </a:r>
          </a:p>
          <a:p>
            <a:pPr marL="0" indent="0">
              <a:buNone/>
            </a:pPr>
            <a:r>
              <a:rPr lang="en-US" b="1" u="sng" dirty="0"/>
              <a:t>Problem Statement</a:t>
            </a:r>
          </a:p>
          <a:p>
            <a:r>
              <a:rPr lang="en-US" dirty="0"/>
              <a:t>Create a program that:</a:t>
            </a:r>
          </a:p>
          <a:p>
            <a:r>
              <a:rPr lang="en-US" dirty="0"/>
              <a:t>Takes number of students as input.</a:t>
            </a:r>
          </a:p>
          <a:p>
            <a:r>
              <a:rPr lang="en-US" dirty="0"/>
              <a:t>For each student, take: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marks</a:t>
            </a:r>
          </a:p>
          <a:p>
            <a:r>
              <a:rPr lang="en-US" dirty="0"/>
              <a:t>Store data in a list of dictionaries.</a:t>
            </a:r>
          </a:p>
          <a:p>
            <a:r>
              <a:rPr lang="en-US" dirty="0"/>
              <a:t>Sort students by marks using lambda.</a:t>
            </a:r>
          </a:p>
          <a:p>
            <a:r>
              <a:rPr lang="en-US" dirty="0"/>
              <a:t>Print ranked list using enumerate().</a:t>
            </a:r>
          </a:p>
          <a:p>
            <a:r>
              <a:rPr lang="en-US" dirty="0"/>
              <a:t>Use match statement to assign grade:</a:t>
            </a:r>
          </a:p>
          <a:p>
            <a:pPr lvl="1"/>
            <a:r>
              <a:rPr lang="en-US" dirty="0"/>
              <a:t>90+ → A</a:t>
            </a:r>
          </a:p>
          <a:p>
            <a:pPr lvl="1"/>
            <a:r>
              <a:rPr lang="en-US" dirty="0"/>
              <a:t>75+ → B</a:t>
            </a:r>
          </a:p>
          <a:p>
            <a:pPr lvl="1"/>
            <a:r>
              <a:rPr lang="en-US" dirty="0"/>
              <a:t>50+ → C</a:t>
            </a:r>
          </a:p>
          <a:p>
            <a:pPr lvl="1"/>
            <a:r>
              <a:rPr lang="en-US" dirty="0"/>
              <a:t>Otherwise → Fail</a:t>
            </a:r>
          </a:p>
          <a:p>
            <a:pPr marL="0" indent="0">
              <a:buNone/>
            </a:pPr>
            <a:endParaRPr b="1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fundamentals and basics</a:t>
            </a:r>
          </a:p>
          <a:p>
            <a:r>
              <a:rPr dirty="0"/>
              <a:t>Data types </a:t>
            </a:r>
            <a:r>
              <a:rPr lang="en-IN" dirty="0"/>
              <a:t>and their built-in methods</a:t>
            </a:r>
          </a:p>
          <a:p>
            <a:r>
              <a:rPr dirty="0"/>
              <a:t>Conditional logic &amp; loops</a:t>
            </a:r>
            <a:endParaRPr lang="en-IN" dirty="0"/>
          </a:p>
          <a:p>
            <a:r>
              <a:rPr dirty="0"/>
              <a:t>Problem solving approach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Build Student Grade Calculator</a:t>
            </a:r>
            <a:endParaRPr lang="en-IN" dirty="0"/>
          </a:p>
          <a:p>
            <a:r>
              <a:rPr dirty="0"/>
              <a:t>Take </a:t>
            </a:r>
            <a:r>
              <a:rPr lang="en-IN" dirty="0"/>
              <a:t>Student name and </a:t>
            </a:r>
            <a:r>
              <a:rPr dirty="0"/>
              <a:t>input for 5 subjects</a:t>
            </a:r>
            <a:endParaRPr lang="en-IN" dirty="0"/>
          </a:p>
          <a:p>
            <a:r>
              <a:rPr dirty="0"/>
              <a:t>Calculate average</a:t>
            </a:r>
            <a:endParaRPr lang="en-IN" dirty="0"/>
          </a:p>
          <a:p>
            <a:r>
              <a:rPr dirty="0"/>
              <a:t>Assign grade based on marks</a:t>
            </a:r>
            <a:endParaRPr lang="en-IN" dirty="0"/>
          </a:p>
          <a:p>
            <a:endParaRPr lang="en-GB" dirty="0"/>
          </a:p>
          <a:p>
            <a:pPr marL="0" indent="0">
              <a:buNone/>
            </a:pPr>
            <a:r>
              <a:rPr lang="en-US" b="1" dirty="0"/>
              <a:t>Features:</a:t>
            </a:r>
            <a:br>
              <a:rPr lang="en-US" b="1" dirty="0"/>
            </a:br>
            <a:r>
              <a:rPr lang="en-US" dirty="0"/>
              <a:t>- Takes student name</a:t>
            </a:r>
            <a:br>
              <a:rPr lang="en-US" dirty="0"/>
            </a:br>
            <a:r>
              <a:rPr lang="en-US" dirty="0"/>
              <a:t>- Takes marks for 5 subjects</a:t>
            </a:r>
            <a:br>
              <a:rPr lang="en-US" dirty="0"/>
            </a:br>
            <a:r>
              <a:rPr lang="en-US" dirty="0"/>
              <a:t>- Validates marks (0–100)</a:t>
            </a:r>
            <a:br>
              <a:rPr lang="en-US" dirty="0"/>
            </a:br>
            <a:r>
              <a:rPr lang="en-US" dirty="0"/>
              <a:t>- Calculates total and average</a:t>
            </a:r>
            <a:br>
              <a:rPr lang="en-US" dirty="0"/>
            </a:br>
            <a:r>
              <a:rPr lang="en-US" dirty="0"/>
              <a:t>- Checks individual subject fail condition</a:t>
            </a:r>
            <a:br>
              <a:rPr lang="en-US" dirty="0"/>
            </a:br>
            <a:r>
              <a:rPr lang="en-US" dirty="0"/>
              <a:t>- Assigns grade using match</a:t>
            </a:r>
            <a:br>
              <a:rPr lang="en-US" dirty="0"/>
            </a:br>
            <a:r>
              <a:rPr lang="en-US" dirty="0"/>
              <a:t>- Displays formatted result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Don’t aim to finish the workshop.</a:t>
            </a:r>
            <a:endParaRPr lang="en-IN" dirty="0"/>
          </a:p>
          <a:p>
            <a:r>
              <a:rPr dirty="0"/>
              <a:t>Aim to think like a developer.</a:t>
            </a:r>
            <a:endParaRPr lang="en-IN" dirty="0"/>
          </a:p>
          <a:p>
            <a:r>
              <a:rPr dirty="0"/>
              <a:t>See you on Day 2 – Functions &amp; File Handling!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7646</TotalTime>
  <Words>918</Words>
  <Application>Microsoft Office PowerPoint</Application>
  <PresentationFormat>On-screen Show (4:3)</PresentationFormat>
  <Paragraphs>184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Rockwell</vt:lpstr>
      <vt:lpstr>Rockwell Condensed</vt:lpstr>
      <vt:lpstr>Wingdings</vt:lpstr>
      <vt:lpstr>Wood Type</vt:lpstr>
      <vt:lpstr>4-Day Hands-on Workshop Python &amp; SQL</vt:lpstr>
      <vt:lpstr>Workshop Objective</vt:lpstr>
      <vt:lpstr>What You Will Build</vt:lpstr>
      <vt:lpstr>Where Python Is Used</vt:lpstr>
      <vt:lpstr>Day 1 – Python Fundamentals and Logic building</vt:lpstr>
      <vt:lpstr>How Python Executes Code</vt:lpstr>
      <vt:lpstr>Memory Management and Garbage Collector in python</vt:lpstr>
      <vt:lpstr>Module VS Package Vs Library</vt:lpstr>
      <vt:lpstr>Core Data Types (With Use Cases)</vt:lpstr>
      <vt:lpstr>Mutable vs Immutable Data Types</vt:lpstr>
      <vt:lpstr>Conditional Logic in Real Projects</vt:lpstr>
      <vt:lpstr>Loops in Production Code</vt:lpstr>
      <vt:lpstr>Common Beginner Mistakes</vt:lpstr>
      <vt:lpstr>Debugging Mindset</vt:lpstr>
      <vt:lpstr>What Companies Look For</vt:lpstr>
      <vt:lpstr>How to Improve Coding Skills</vt:lpstr>
      <vt:lpstr>Mini Code Challenge</vt:lpstr>
      <vt:lpstr>Day 1 Recap</vt:lpstr>
      <vt:lpstr>Assignment</vt:lpstr>
      <vt:lpstr>Closing Note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Prakash Madariya</dc:creator>
  <cp:keywords/>
  <dc:description>generated using python-pptx</dc:description>
  <cp:lastModifiedBy>Prakash Madariya</cp:lastModifiedBy>
  <cp:revision>4</cp:revision>
  <dcterms:created xsi:type="dcterms:W3CDTF">2013-01-27T09:14:16Z</dcterms:created>
  <dcterms:modified xsi:type="dcterms:W3CDTF">2026-02-26T04:49:22Z</dcterms:modified>
  <cp:category/>
</cp:coreProperties>
</file>